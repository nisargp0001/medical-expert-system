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Arimo" charset="1" panose="020B0604020202020204"/>
      <p:regular r:id="rId17"/>
    </p:embeddedFont>
    <p:embeddedFont>
      <p:font typeface="Montserrat Light" charset="1" panose="00000400000000000000"/>
      <p:regular r:id="rId18"/>
    </p:embeddedFont>
    <p:embeddedFont>
      <p:font typeface="Consolas" charset="1" panose="020B0609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2"/>
              <a:stretch>
                <a:fillRect l="-22170" t="0" r="-2217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3718027"/>
            <a:ext cx="708823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MediAI Expert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736459"/>
            <a:ext cx="876255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AI-Powered Medical Diagnosis Expert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518842"/>
            <a:ext cx="9445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A web-based expert system that simulates human medical diagnostic reasoning through foundational symbolic AI techniques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58400" y="0"/>
            <a:ext cx="8229600" cy="10287000"/>
          </a:xfrm>
          <a:custGeom>
            <a:avLst/>
            <a:gdLst/>
            <a:ahLst/>
            <a:cxnLst/>
            <a:rect r="r" b="b" t="t" l="l"/>
            <a:pathLst>
              <a:path h="10287000" w="8229600">
                <a:moveTo>
                  <a:pt x="0" y="0"/>
                </a:moveTo>
                <a:lnTo>
                  <a:pt x="8229600" y="0"/>
                </a:lnTo>
                <a:lnTo>
                  <a:pt x="8229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273" t="0" r="-3726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559719"/>
            <a:ext cx="9445523" cy="18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Medical Diagnosis Challenge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4068966"/>
            <a:ext cx="2514362" cy="45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4690615"/>
            <a:ext cx="4376890" cy="409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1"/>
              </a:lnSpc>
            </a:pPr>
            <a:r>
              <a:rPr lang="en-US" sz="24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Medical diagnosis requires extensive knowledge, pattern recognition, and logical reasoning. Human experts spend years developing these capabilities, but access to specialist care remains limited in many regions.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28397" y="4068966"/>
            <a:ext cx="2475429" cy="457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949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28397" y="4690615"/>
            <a:ext cx="4376890" cy="357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1"/>
              </a:lnSpc>
            </a:pPr>
            <a:r>
              <a:rPr lang="en-US" sz="24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MediAI Expert bridges the gap by encoding medical knowledge into a rule-based system that applies logical inference to symptom patterns, providing accessible diagnostic reasoning support.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70422"/>
            <a:ext cx="9068095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MediAI Expert?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956770"/>
            <a:ext cx="5254971" cy="4146499"/>
            <a:chOff x="0" y="0"/>
            <a:chExt cx="7006628" cy="55286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5515991"/>
            </a:xfrm>
            <a:custGeom>
              <a:avLst/>
              <a:gdLst/>
              <a:ahLst/>
              <a:cxnLst/>
              <a:rect r="r" b="b" t="t" l="l"/>
              <a:pathLst>
                <a:path h="5515991" w="699389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6978650" y="0"/>
                  </a:lnTo>
                  <a:cubicBezTo>
                    <a:pt x="6987032" y="0"/>
                    <a:pt x="6993890" y="6858"/>
                    <a:pt x="6993890" y="15240"/>
                  </a:cubicBezTo>
                  <a:lnTo>
                    <a:pt x="6993890" y="5500751"/>
                  </a:lnTo>
                  <a:cubicBezTo>
                    <a:pt x="6993890" y="5509133"/>
                    <a:pt x="6987032" y="5515991"/>
                    <a:pt x="6978650" y="5515991"/>
                  </a:cubicBezTo>
                  <a:lnTo>
                    <a:pt x="15240" y="5515991"/>
                  </a:lnTo>
                  <a:cubicBezTo>
                    <a:pt x="6858" y="5515991"/>
                    <a:pt x="0" y="5509133"/>
                    <a:pt x="0" y="5500751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5528691"/>
            </a:xfrm>
            <a:custGeom>
              <a:avLst/>
              <a:gdLst/>
              <a:ahLst/>
              <a:cxnLst/>
              <a:rect r="r" b="b" t="t" l="l"/>
              <a:pathLst>
                <a:path h="5528691" w="7006590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6985000" y="0"/>
                  </a:lnTo>
                  <a:lnTo>
                    <a:pt x="6985000" y="6350"/>
                  </a:lnTo>
                  <a:lnTo>
                    <a:pt x="6985000" y="0"/>
                  </a:lnTo>
                  <a:cubicBezTo>
                    <a:pt x="6996938" y="0"/>
                    <a:pt x="7006590" y="9652"/>
                    <a:pt x="7006590" y="21590"/>
                  </a:cubicBezTo>
                  <a:lnTo>
                    <a:pt x="7000240" y="21590"/>
                  </a:lnTo>
                  <a:lnTo>
                    <a:pt x="7006590" y="21590"/>
                  </a:lnTo>
                  <a:lnTo>
                    <a:pt x="7006590" y="5507101"/>
                  </a:lnTo>
                  <a:lnTo>
                    <a:pt x="7000240" y="5507101"/>
                  </a:lnTo>
                  <a:lnTo>
                    <a:pt x="7006590" y="5507101"/>
                  </a:lnTo>
                  <a:cubicBezTo>
                    <a:pt x="7006590" y="5519039"/>
                    <a:pt x="6996938" y="5528691"/>
                    <a:pt x="6985000" y="5528691"/>
                  </a:cubicBezTo>
                  <a:lnTo>
                    <a:pt x="6985000" y="5522341"/>
                  </a:lnTo>
                  <a:lnTo>
                    <a:pt x="6985000" y="5528691"/>
                  </a:lnTo>
                  <a:lnTo>
                    <a:pt x="21590" y="5528691"/>
                  </a:lnTo>
                  <a:lnTo>
                    <a:pt x="21590" y="5522341"/>
                  </a:lnTo>
                  <a:lnTo>
                    <a:pt x="21590" y="5528691"/>
                  </a:lnTo>
                  <a:cubicBezTo>
                    <a:pt x="9652" y="5528691"/>
                    <a:pt x="0" y="5519039"/>
                    <a:pt x="0" y="5507101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5507101"/>
                  </a:lnTo>
                  <a:lnTo>
                    <a:pt x="6350" y="5507101"/>
                  </a:lnTo>
                  <a:lnTo>
                    <a:pt x="12700" y="5507101"/>
                  </a:lnTo>
                  <a:cubicBezTo>
                    <a:pt x="12700" y="5512054"/>
                    <a:pt x="16637" y="5515991"/>
                    <a:pt x="21590" y="5515991"/>
                  </a:cubicBezTo>
                  <a:lnTo>
                    <a:pt x="6985000" y="5515991"/>
                  </a:lnTo>
                  <a:cubicBezTo>
                    <a:pt x="6989953" y="5515991"/>
                    <a:pt x="6993890" y="5512054"/>
                    <a:pt x="6993890" y="5507101"/>
                  </a:cubicBezTo>
                  <a:lnTo>
                    <a:pt x="6993890" y="21590"/>
                  </a:lnTo>
                  <a:cubicBezTo>
                    <a:pt x="6993890" y="16637"/>
                    <a:pt x="6989953" y="12700"/>
                    <a:pt x="6985000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3254578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348837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439" r="0" b="-243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4369594"/>
            <a:ext cx="459566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Symbolic AI Foundation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4896888"/>
            <a:ext cx="465936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Rule-based knowledge representation and logical inference mechanisms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2956770"/>
            <a:ext cx="5254971" cy="4146499"/>
            <a:chOff x="0" y="0"/>
            <a:chExt cx="7006628" cy="55286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5515991"/>
            </a:xfrm>
            <a:custGeom>
              <a:avLst/>
              <a:gdLst/>
              <a:ahLst/>
              <a:cxnLst/>
              <a:rect r="r" b="b" t="t" l="l"/>
              <a:pathLst>
                <a:path h="5515991" w="699389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6978650" y="0"/>
                  </a:lnTo>
                  <a:cubicBezTo>
                    <a:pt x="6987032" y="0"/>
                    <a:pt x="6993890" y="6858"/>
                    <a:pt x="6993890" y="15240"/>
                  </a:cubicBezTo>
                  <a:lnTo>
                    <a:pt x="6993890" y="5500751"/>
                  </a:lnTo>
                  <a:cubicBezTo>
                    <a:pt x="6993890" y="5509133"/>
                    <a:pt x="6987032" y="5515991"/>
                    <a:pt x="6978650" y="5515991"/>
                  </a:cubicBezTo>
                  <a:lnTo>
                    <a:pt x="15240" y="5515991"/>
                  </a:lnTo>
                  <a:cubicBezTo>
                    <a:pt x="6858" y="5515991"/>
                    <a:pt x="0" y="5509133"/>
                    <a:pt x="0" y="5500751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5528691"/>
            </a:xfrm>
            <a:custGeom>
              <a:avLst/>
              <a:gdLst/>
              <a:ahLst/>
              <a:cxnLst/>
              <a:rect r="r" b="b" t="t" l="l"/>
              <a:pathLst>
                <a:path h="5528691" w="7006590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6985000" y="0"/>
                  </a:lnTo>
                  <a:lnTo>
                    <a:pt x="6985000" y="6350"/>
                  </a:lnTo>
                  <a:lnTo>
                    <a:pt x="6985000" y="0"/>
                  </a:lnTo>
                  <a:cubicBezTo>
                    <a:pt x="6996938" y="0"/>
                    <a:pt x="7006590" y="9652"/>
                    <a:pt x="7006590" y="21590"/>
                  </a:cubicBezTo>
                  <a:lnTo>
                    <a:pt x="7000240" y="21590"/>
                  </a:lnTo>
                  <a:lnTo>
                    <a:pt x="7006590" y="21590"/>
                  </a:lnTo>
                  <a:lnTo>
                    <a:pt x="7006590" y="5507101"/>
                  </a:lnTo>
                  <a:lnTo>
                    <a:pt x="7000240" y="5507101"/>
                  </a:lnTo>
                  <a:lnTo>
                    <a:pt x="7006590" y="5507101"/>
                  </a:lnTo>
                  <a:cubicBezTo>
                    <a:pt x="7006590" y="5519039"/>
                    <a:pt x="6996938" y="5528691"/>
                    <a:pt x="6985000" y="5528691"/>
                  </a:cubicBezTo>
                  <a:lnTo>
                    <a:pt x="6985000" y="5522341"/>
                  </a:lnTo>
                  <a:lnTo>
                    <a:pt x="6985000" y="5528691"/>
                  </a:lnTo>
                  <a:lnTo>
                    <a:pt x="21590" y="5528691"/>
                  </a:lnTo>
                  <a:lnTo>
                    <a:pt x="21590" y="5522341"/>
                  </a:lnTo>
                  <a:lnTo>
                    <a:pt x="21590" y="5528691"/>
                  </a:lnTo>
                  <a:cubicBezTo>
                    <a:pt x="9652" y="5528691"/>
                    <a:pt x="0" y="5519039"/>
                    <a:pt x="0" y="5507101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5507101"/>
                  </a:lnTo>
                  <a:lnTo>
                    <a:pt x="6350" y="5507101"/>
                  </a:lnTo>
                  <a:lnTo>
                    <a:pt x="12700" y="5507101"/>
                  </a:lnTo>
                  <a:cubicBezTo>
                    <a:pt x="12700" y="5512054"/>
                    <a:pt x="16637" y="5515991"/>
                    <a:pt x="21590" y="5515991"/>
                  </a:cubicBezTo>
                  <a:lnTo>
                    <a:pt x="6985000" y="5515991"/>
                  </a:lnTo>
                  <a:cubicBezTo>
                    <a:pt x="6989953" y="5515991"/>
                    <a:pt x="6993890" y="5512054"/>
                    <a:pt x="6993890" y="5507101"/>
                  </a:cubicBezTo>
                  <a:lnTo>
                    <a:pt x="6993890" y="21590"/>
                  </a:lnTo>
                  <a:cubicBezTo>
                    <a:pt x="6993890" y="16637"/>
                    <a:pt x="6989953" y="12700"/>
                    <a:pt x="6985000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3254578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348837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659" r="0" b="-3656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4369594"/>
            <a:ext cx="4659363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Medical Expert Simulation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5339801"/>
            <a:ext cx="465936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Mimics diagnostic reasoning of human physicians through structured rules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2956770"/>
            <a:ext cx="5254971" cy="4146499"/>
            <a:chOff x="0" y="0"/>
            <a:chExt cx="7006628" cy="55286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5515991"/>
            </a:xfrm>
            <a:custGeom>
              <a:avLst/>
              <a:gdLst/>
              <a:ahLst/>
              <a:cxnLst/>
              <a:rect r="r" b="b" t="t" l="l"/>
              <a:pathLst>
                <a:path h="5515991" w="699389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6978650" y="0"/>
                  </a:lnTo>
                  <a:cubicBezTo>
                    <a:pt x="6987032" y="0"/>
                    <a:pt x="6993890" y="6858"/>
                    <a:pt x="6993890" y="15240"/>
                  </a:cubicBezTo>
                  <a:lnTo>
                    <a:pt x="6993890" y="5500751"/>
                  </a:lnTo>
                  <a:cubicBezTo>
                    <a:pt x="6993890" y="5509133"/>
                    <a:pt x="6987032" y="5515991"/>
                    <a:pt x="6978650" y="5515991"/>
                  </a:cubicBezTo>
                  <a:lnTo>
                    <a:pt x="15240" y="5515991"/>
                  </a:lnTo>
                  <a:cubicBezTo>
                    <a:pt x="6858" y="5515991"/>
                    <a:pt x="0" y="5509133"/>
                    <a:pt x="0" y="5500751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5528691"/>
            </a:xfrm>
            <a:custGeom>
              <a:avLst/>
              <a:gdLst/>
              <a:ahLst/>
              <a:cxnLst/>
              <a:rect r="r" b="b" t="t" l="l"/>
              <a:pathLst>
                <a:path h="5528691" w="7006590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6985000" y="0"/>
                  </a:lnTo>
                  <a:lnTo>
                    <a:pt x="6985000" y="6350"/>
                  </a:lnTo>
                  <a:lnTo>
                    <a:pt x="6985000" y="0"/>
                  </a:lnTo>
                  <a:cubicBezTo>
                    <a:pt x="6996938" y="0"/>
                    <a:pt x="7006590" y="9652"/>
                    <a:pt x="7006590" y="21590"/>
                  </a:cubicBezTo>
                  <a:lnTo>
                    <a:pt x="7000240" y="21590"/>
                  </a:lnTo>
                  <a:lnTo>
                    <a:pt x="7006590" y="21590"/>
                  </a:lnTo>
                  <a:lnTo>
                    <a:pt x="7006590" y="5507101"/>
                  </a:lnTo>
                  <a:lnTo>
                    <a:pt x="7000240" y="5507101"/>
                  </a:lnTo>
                  <a:lnTo>
                    <a:pt x="7006590" y="5507101"/>
                  </a:lnTo>
                  <a:cubicBezTo>
                    <a:pt x="7006590" y="5519039"/>
                    <a:pt x="6996938" y="5528691"/>
                    <a:pt x="6985000" y="5528691"/>
                  </a:cubicBezTo>
                  <a:lnTo>
                    <a:pt x="6985000" y="5522341"/>
                  </a:lnTo>
                  <a:lnTo>
                    <a:pt x="6985000" y="5528691"/>
                  </a:lnTo>
                  <a:lnTo>
                    <a:pt x="21590" y="5528691"/>
                  </a:lnTo>
                  <a:lnTo>
                    <a:pt x="21590" y="5522341"/>
                  </a:lnTo>
                  <a:lnTo>
                    <a:pt x="21590" y="5528691"/>
                  </a:lnTo>
                  <a:cubicBezTo>
                    <a:pt x="9652" y="5528691"/>
                    <a:pt x="0" y="5519039"/>
                    <a:pt x="0" y="5507101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5507101"/>
                  </a:lnTo>
                  <a:lnTo>
                    <a:pt x="6350" y="5507101"/>
                  </a:lnTo>
                  <a:lnTo>
                    <a:pt x="12700" y="5507101"/>
                  </a:lnTo>
                  <a:cubicBezTo>
                    <a:pt x="12700" y="5512054"/>
                    <a:pt x="16637" y="5515991"/>
                    <a:pt x="21590" y="5515991"/>
                  </a:cubicBezTo>
                  <a:lnTo>
                    <a:pt x="6985000" y="5515991"/>
                  </a:lnTo>
                  <a:cubicBezTo>
                    <a:pt x="6989953" y="5515991"/>
                    <a:pt x="6993890" y="5512054"/>
                    <a:pt x="6993890" y="5507101"/>
                  </a:cubicBezTo>
                  <a:lnTo>
                    <a:pt x="6993890" y="21590"/>
                  </a:lnTo>
                  <a:cubicBezTo>
                    <a:pt x="6993890" y="16637"/>
                    <a:pt x="6989953" y="12700"/>
                    <a:pt x="6985000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3254578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348837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4369594"/>
            <a:ext cx="400332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Web-Based Platform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4896888"/>
            <a:ext cx="4659363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Accessible interface combining modern frontend with robust backend logic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238" y="7293616"/>
            <a:ext cx="16303523" cy="1583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13"/>
              </a:lnSpc>
            </a:pPr>
            <a:r>
              <a:rPr lang="en-US" sz="25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This system demonstrates how foundational AI concepts—knowledge bases, forward chaining, and backward chaining—can be applied to create an intelligent diagnostic assistant that reasons through symptom patterns to identify potential ailments.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98944" y="557212"/>
            <a:ext cx="5543702" cy="63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98944" y="1473841"/>
            <a:ext cx="13690102" cy="6265221"/>
            <a:chOff x="0" y="0"/>
            <a:chExt cx="18253469" cy="83536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8253456" cy="8353679"/>
            </a:xfrm>
            <a:custGeom>
              <a:avLst/>
              <a:gdLst/>
              <a:ahLst/>
              <a:cxnLst/>
              <a:rect r="r" b="b" t="t" l="l"/>
              <a:pathLst>
                <a:path h="8353679" w="18253456">
                  <a:moveTo>
                    <a:pt x="0" y="0"/>
                  </a:moveTo>
                  <a:lnTo>
                    <a:pt x="18253456" y="0"/>
                  </a:lnTo>
                  <a:lnTo>
                    <a:pt x="18253456" y="8353679"/>
                  </a:lnTo>
                  <a:lnTo>
                    <a:pt x="0" y="8353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1" r="0" b="-33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327007" y="2294506"/>
            <a:ext cx="3028398" cy="39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27007" y="2809313"/>
            <a:ext cx="3337960" cy="5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Knowledge base and session logs storage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63066" y="4353820"/>
            <a:ext cx="3028398" cy="39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API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22690" y="4868618"/>
            <a:ext cx="3068774" cy="5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Python Flask REST endpoints and inference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27007" y="5417125"/>
            <a:ext cx="3028398" cy="39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SPA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27007" y="5931922"/>
            <a:ext cx="3337960" cy="59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HTML5, CSS3, JavaScript single-page app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98944" y="7866612"/>
            <a:ext cx="198387" cy="27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15161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298944" y="8203702"/>
            <a:ext cx="4470797" cy="28575"/>
            <a:chOff x="0" y="0"/>
            <a:chExt cx="5961062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0999" cy="38100"/>
            </a:xfrm>
            <a:custGeom>
              <a:avLst/>
              <a:gdLst/>
              <a:ahLst/>
              <a:cxnLst/>
              <a:rect r="r" b="b" t="t" l="l"/>
              <a:pathLst>
                <a:path h="38100" w="5960999">
                  <a:moveTo>
                    <a:pt x="0" y="0"/>
                  </a:moveTo>
                  <a:lnTo>
                    <a:pt x="5960999" y="0"/>
                  </a:lnTo>
                  <a:lnTo>
                    <a:pt x="596099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298944" y="8340928"/>
            <a:ext cx="2480072" cy="32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Layer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98944" y="8705402"/>
            <a:ext cx="4470797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4"/>
              </a:lnSpc>
            </a:pPr>
            <a:r>
              <a:rPr lang="en-US" sz="17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Single Page Application using HTML5, CSS3, and Vanilla JavaScript with asynchronous fetch() API calls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08454" y="7866612"/>
            <a:ext cx="198387" cy="27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15161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08454" y="8203702"/>
            <a:ext cx="4470949" cy="28575"/>
            <a:chOff x="0" y="0"/>
            <a:chExt cx="5961266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61253" cy="38100"/>
            </a:xfrm>
            <a:custGeom>
              <a:avLst/>
              <a:gdLst/>
              <a:ahLst/>
              <a:cxnLst/>
              <a:rect r="r" b="b" t="t" l="l"/>
              <a:pathLst>
                <a:path h="38100" w="5961253">
                  <a:moveTo>
                    <a:pt x="0" y="0"/>
                  </a:moveTo>
                  <a:lnTo>
                    <a:pt x="5961253" y="0"/>
                  </a:lnTo>
                  <a:lnTo>
                    <a:pt x="59612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08454" y="8340928"/>
            <a:ext cx="2480072" cy="32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Layer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08454" y="8705402"/>
            <a:ext cx="4470949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4"/>
              </a:lnSpc>
            </a:pPr>
            <a:r>
              <a:rPr lang="en-US" sz="17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Python Flask framework exposing RESTful endpoints (/api/forward, /api/backward) and inference engine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18106" y="7866612"/>
            <a:ext cx="198387" cy="27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15161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518106" y="8203702"/>
            <a:ext cx="4470949" cy="28575"/>
            <a:chOff x="0" y="0"/>
            <a:chExt cx="5961266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61253" cy="38100"/>
            </a:xfrm>
            <a:custGeom>
              <a:avLst/>
              <a:gdLst/>
              <a:ahLst/>
              <a:cxnLst/>
              <a:rect r="r" b="b" t="t" l="l"/>
              <a:pathLst>
                <a:path h="38100" w="5961253">
                  <a:moveTo>
                    <a:pt x="0" y="0"/>
                  </a:moveTo>
                  <a:lnTo>
                    <a:pt x="5961253" y="0"/>
                  </a:lnTo>
                  <a:lnTo>
                    <a:pt x="596125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518106" y="8340928"/>
            <a:ext cx="2480072" cy="328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Layer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18106" y="8705402"/>
            <a:ext cx="4470949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4"/>
              </a:lnSpc>
            </a:pPr>
            <a:r>
              <a:rPr lang="en-US" sz="17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Knowledge base rules and session logs stored in structured text files for audit and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3444" y="720481"/>
            <a:ext cx="7196433" cy="807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Knowledge Base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3444" y="2285257"/>
            <a:ext cx="3295945" cy="403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Rule-Based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3444" y="2828182"/>
            <a:ext cx="10523039" cy="124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The knowledge base encodes medical expertise as logical rules mapping symptom patterns to diagnostic conclusions. Each disease is represented as a conjunction of symptoms that must be present for diagnosis.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3444" y="4311548"/>
            <a:ext cx="10523039" cy="3431381"/>
            <a:chOff x="0" y="0"/>
            <a:chExt cx="14030719" cy="45751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30705" cy="4575175"/>
            </a:xfrm>
            <a:custGeom>
              <a:avLst/>
              <a:gdLst/>
              <a:ahLst/>
              <a:cxnLst/>
              <a:rect r="r" b="b" t="t" l="l"/>
              <a:pathLst>
                <a:path h="4575175" w="14030705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14015465" y="0"/>
                  </a:lnTo>
                  <a:cubicBezTo>
                    <a:pt x="14023848" y="0"/>
                    <a:pt x="14030705" y="6858"/>
                    <a:pt x="14030705" y="15240"/>
                  </a:cubicBezTo>
                  <a:lnTo>
                    <a:pt x="14030705" y="4559935"/>
                  </a:lnTo>
                  <a:cubicBezTo>
                    <a:pt x="14030705" y="4568317"/>
                    <a:pt x="14023848" y="4575175"/>
                    <a:pt x="14015465" y="4575175"/>
                  </a:cubicBezTo>
                  <a:lnTo>
                    <a:pt x="15240" y="4575175"/>
                  </a:lnTo>
                  <a:cubicBezTo>
                    <a:pt x="6858" y="4575175"/>
                    <a:pt x="0" y="4568317"/>
                    <a:pt x="0" y="4559935"/>
                  </a:cubicBezTo>
                  <a:close/>
                </a:path>
              </a:pathLst>
            </a:custGeom>
            <a:solidFill>
              <a:srgbClr val="EBDFD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0947" y="4311548"/>
            <a:ext cx="10548042" cy="3431381"/>
            <a:chOff x="0" y="0"/>
            <a:chExt cx="14064056" cy="45751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064107" cy="4575302"/>
            </a:xfrm>
            <a:custGeom>
              <a:avLst/>
              <a:gdLst/>
              <a:ahLst/>
              <a:cxnLst/>
              <a:rect r="r" b="b" t="t" l="l"/>
              <a:pathLst>
                <a:path h="4575302" w="14064107">
                  <a:moveTo>
                    <a:pt x="0" y="50546"/>
                  </a:moveTo>
                  <a:cubicBezTo>
                    <a:pt x="0" y="22606"/>
                    <a:pt x="22606" y="0"/>
                    <a:pt x="50546" y="0"/>
                  </a:cubicBezTo>
                  <a:lnTo>
                    <a:pt x="14013562" y="0"/>
                  </a:lnTo>
                  <a:cubicBezTo>
                    <a:pt x="14041501" y="0"/>
                    <a:pt x="14064107" y="22606"/>
                    <a:pt x="14064107" y="50546"/>
                  </a:cubicBezTo>
                  <a:lnTo>
                    <a:pt x="14064107" y="4524756"/>
                  </a:lnTo>
                  <a:cubicBezTo>
                    <a:pt x="14064107" y="4552696"/>
                    <a:pt x="14041501" y="4575302"/>
                    <a:pt x="14013562" y="4575302"/>
                  </a:cubicBezTo>
                  <a:lnTo>
                    <a:pt x="50546" y="4575302"/>
                  </a:lnTo>
                  <a:cubicBezTo>
                    <a:pt x="22606" y="4575302"/>
                    <a:pt x="0" y="4552696"/>
                    <a:pt x="0" y="4524756"/>
                  </a:cubicBezTo>
                  <a:close/>
                </a:path>
              </a:pathLst>
            </a:custGeom>
            <a:solidFill>
              <a:srgbClr val="EBDFD7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23359" y="4377033"/>
            <a:ext cx="10043217" cy="338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Consolas"/>
                <a:ea typeface="Consolas"/>
                <a:cs typeface="Consolas"/>
                <a:sym typeface="Consolas"/>
              </a:rPr>
              <a:t>IF (Fever AND Cough AND Fatigue) </a:t>
            </a:r>
          </a:p>
          <a:p>
            <a:pPr algn="l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Consolas"/>
                <a:ea typeface="Consolas"/>
                <a:cs typeface="Consolas"/>
                <a:sym typeface="Consolas"/>
              </a:rPr>
              <a:t>   THEN Flu</a:t>
            </a:r>
          </a:p>
          <a:p>
            <a:pPr algn="l">
              <a:lnSpc>
                <a:spcPts val="3309"/>
              </a:lnSpc>
            </a:pPr>
          </a:p>
          <a:p>
            <a:pPr algn="l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Consolas"/>
                <a:ea typeface="Consolas"/>
                <a:cs typeface="Consolas"/>
                <a:sym typeface="Consolas"/>
              </a:rPr>
              <a:t>IF (Fever AND Headache AND Joint Pain) </a:t>
            </a:r>
          </a:p>
          <a:p>
            <a:pPr algn="l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Consolas"/>
                <a:ea typeface="Consolas"/>
                <a:cs typeface="Consolas"/>
                <a:sym typeface="Consolas"/>
              </a:rPr>
              <a:t>   THEN Dengue</a:t>
            </a:r>
          </a:p>
          <a:p>
            <a:pPr algn="l">
              <a:lnSpc>
                <a:spcPts val="3309"/>
              </a:lnSpc>
            </a:pPr>
          </a:p>
          <a:p>
            <a:pPr algn="l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Consolas"/>
                <a:ea typeface="Consolas"/>
                <a:cs typeface="Consolas"/>
                <a:sym typeface="Consolas"/>
              </a:rPr>
              <a:t>IF (Chest Pain AND Shortness of Breath) </a:t>
            </a:r>
          </a:p>
          <a:p>
            <a:pPr algn="l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Consolas"/>
                <a:ea typeface="Consolas"/>
                <a:cs typeface="Consolas"/>
                <a:sym typeface="Consolas"/>
              </a:rPr>
              <a:t>   THEN Cardiac Condition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3444" y="7910065"/>
            <a:ext cx="10523039" cy="124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9"/>
              </a:lnSpc>
            </a:pPr>
            <a:r>
              <a:rPr lang="en-US" sz="213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This symbolic representation allows the system to reason through symptom combinations systematically, applying medical knowledge consistently across patient interactions.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31866" y="2118417"/>
            <a:ext cx="5382073" cy="7176049"/>
            <a:chOff x="0" y="0"/>
            <a:chExt cx="7176097" cy="956806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176135" cy="9568053"/>
            </a:xfrm>
            <a:custGeom>
              <a:avLst/>
              <a:gdLst/>
              <a:ahLst/>
              <a:cxnLst/>
              <a:rect r="r" b="b" t="t" l="l"/>
              <a:pathLst>
                <a:path h="9568053" w="7176135">
                  <a:moveTo>
                    <a:pt x="0" y="0"/>
                  </a:moveTo>
                  <a:lnTo>
                    <a:pt x="7176135" y="0"/>
                  </a:lnTo>
                  <a:lnTo>
                    <a:pt x="7176135" y="9568053"/>
                  </a:lnTo>
                  <a:lnTo>
                    <a:pt x="0" y="9568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" t="0" r="-2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736591" y="2021091"/>
            <a:ext cx="6244828" cy="6244828"/>
            <a:chOff x="0" y="0"/>
            <a:chExt cx="8326438" cy="832643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326374" cy="8326501"/>
            </a:xfrm>
            <a:custGeom>
              <a:avLst/>
              <a:gdLst/>
              <a:ahLst/>
              <a:cxnLst/>
              <a:rect r="r" b="b" t="t" l="l"/>
              <a:pathLst>
                <a:path h="8326501" w="8326374">
                  <a:moveTo>
                    <a:pt x="0" y="0"/>
                  </a:moveTo>
                  <a:lnTo>
                    <a:pt x="8326374" y="0"/>
                  </a:lnTo>
                  <a:lnTo>
                    <a:pt x="8326374" y="8326501"/>
                  </a:lnTo>
                  <a:lnTo>
                    <a:pt x="0" y="8326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58736" y="1020213"/>
            <a:ext cx="9712528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Inference Mechanism: Forward Chaining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8736" y="2629052"/>
            <a:ext cx="3846757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Data-Driven Reasoning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58736" y="3359496"/>
            <a:ext cx="1226791" cy="1472060"/>
            <a:chOff x="0" y="0"/>
            <a:chExt cx="1635722" cy="1962747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635760" cy="1962785"/>
            </a:xfrm>
            <a:custGeom>
              <a:avLst/>
              <a:gdLst/>
              <a:ahLst/>
              <a:cxnLst/>
              <a:rect r="r" b="b" t="t" l="l"/>
              <a:pathLst>
                <a:path h="1962785" w="1635760">
                  <a:moveTo>
                    <a:pt x="0" y="0"/>
                  </a:moveTo>
                  <a:lnTo>
                    <a:pt x="1635760" y="0"/>
                  </a:lnTo>
                  <a:lnTo>
                    <a:pt x="163576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7" r="2" b="-6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297754" y="3576190"/>
            <a:ext cx="306705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Input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97754" y="4029818"/>
            <a:ext cx="827350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Patient enters symptoms through interactive grid interface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8736" y="4831556"/>
            <a:ext cx="1226791" cy="1472060"/>
            <a:chOff x="0" y="0"/>
            <a:chExt cx="1635722" cy="1962747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635760" cy="1962785"/>
            </a:xfrm>
            <a:custGeom>
              <a:avLst/>
              <a:gdLst/>
              <a:ahLst/>
              <a:cxnLst/>
              <a:rect r="r" b="b" t="t" l="l"/>
              <a:pathLst>
                <a:path h="1962785" w="1635760">
                  <a:moveTo>
                    <a:pt x="0" y="0"/>
                  </a:moveTo>
                  <a:lnTo>
                    <a:pt x="1635760" y="0"/>
                  </a:lnTo>
                  <a:lnTo>
                    <a:pt x="163576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7" r="2" b="-6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297754" y="5048250"/>
            <a:ext cx="306705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Rule Matching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97754" y="5501878"/>
            <a:ext cx="827350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System searches knowledge base for matching patterns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8736" y="6303616"/>
            <a:ext cx="1226791" cy="1472060"/>
            <a:chOff x="0" y="0"/>
            <a:chExt cx="1635722" cy="1962747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635760" cy="1962785"/>
            </a:xfrm>
            <a:custGeom>
              <a:avLst/>
              <a:gdLst/>
              <a:ahLst/>
              <a:cxnLst/>
              <a:rect r="r" b="b" t="t" l="l"/>
              <a:pathLst>
                <a:path h="1962785" w="1635760">
                  <a:moveTo>
                    <a:pt x="0" y="0"/>
                  </a:moveTo>
                  <a:lnTo>
                    <a:pt x="1635760" y="0"/>
                  </a:lnTo>
                  <a:lnTo>
                    <a:pt x="163576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7" r="2" b="-6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297754" y="6520310"/>
            <a:ext cx="306705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Chain Activation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97754" y="6973938"/>
            <a:ext cx="827350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Applies rules sequentially, building toward diagnosis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8736" y="7775677"/>
            <a:ext cx="1226791" cy="1472060"/>
            <a:chOff x="0" y="0"/>
            <a:chExt cx="1635722" cy="1962747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635760" cy="1962785"/>
            </a:xfrm>
            <a:custGeom>
              <a:avLst/>
              <a:gdLst/>
              <a:ahLst/>
              <a:cxnLst/>
              <a:rect r="r" b="b" t="t" l="l"/>
              <a:pathLst>
                <a:path h="1962785" w="1635760">
                  <a:moveTo>
                    <a:pt x="0" y="0"/>
                  </a:moveTo>
                  <a:lnTo>
                    <a:pt x="1635760" y="0"/>
                  </a:lnTo>
                  <a:lnTo>
                    <a:pt x="1635760" y="1962785"/>
                  </a:lnTo>
                  <a:lnTo>
                    <a:pt x="0" y="196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7" r="2" b="-65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297754" y="7992370"/>
            <a:ext cx="3067050" cy="41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 Reached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97754" y="8445998"/>
            <a:ext cx="8273501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4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Diagnosis identified when symptom pattern matches disease rule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31166" y="503930"/>
            <a:ext cx="10313041" cy="58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Inference Mechanism: Backward Chaining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1166" y="1121864"/>
            <a:ext cx="2789482" cy="290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Goal-Driven Reasoning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31166" y="1712709"/>
            <a:ext cx="7922714" cy="7922714"/>
            <a:chOff x="0" y="0"/>
            <a:chExt cx="10563619" cy="105636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563606" cy="10563606"/>
            </a:xfrm>
            <a:custGeom>
              <a:avLst/>
              <a:gdLst/>
              <a:ahLst/>
              <a:cxnLst/>
              <a:rect r="r" b="b" t="t" l="l"/>
              <a:pathLst>
                <a:path h="10563606" w="10563606">
                  <a:moveTo>
                    <a:pt x="0" y="0"/>
                  </a:moveTo>
                  <a:lnTo>
                    <a:pt x="10563606" y="0"/>
                  </a:lnTo>
                  <a:lnTo>
                    <a:pt x="10563606" y="10563606"/>
                  </a:lnTo>
                  <a:lnTo>
                    <a:pt x="0" y="10563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302756" y="1797631"/>
            <a:ext cx="2776776" cy="475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49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02756" y="2675072"/>
            <a:ext cx="5259482" cy="3277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7031" indent="-188515" lvl="1">
              <a:lnSpc>
                <a:spcPts val="3295"/>
              </a:lnSpc>
              <a:buAutoNum type="arabicPeriod" startAt="1"/>
            </a:pPr>
            <a:r>
              <a:rPr lang="en-US" sz="24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User hypothesizes a potential disease</a:t>
            </a:r>
          </a:p>
          <a:p>
            <a:pPr algn="just" marL="377031" indent="-188515" lvl="1">
              <a:lnSpc>
                <a:spcPts val="3295"/>
              </a:lnSpc>
              <a:buAutoNum type="arabicPeriod" startAt="1"/>
            </a:pPr>
            <a:r>
              <a:rPr lang="en-US" sz="24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System identifies required symptoms for that diagnosis</a:t>
            </a:r>
          </a:p>
          <a:p>
            <a:pPr algn="just" marL="377031" indent="-188515" lvl="1">
              <a:lnSpc>
                <a:spcPts val="3295"/>
              </a:lnSpc>
              <a:buAutoNum type="arabicPeriod" startAt="1"/>
            </a:pPr>
            <a:r>
              <a:rPr lang="en-US" sz="24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Checks available patient symptoms against requirements</a:t>
            </a:r>
          </a:p>
          <a:p>
            <a:pPr algn="just" marL="377031" indent="-188515" lvl="1">
              <a:lnSpc>
                <a:spcPts val="3295"/>
              </a:lnSpc>
              <a:buAutoNum type="arabicPeriod" startAt="1"/>
            </a:pPr>
            <a:r>
              <a:rPr lang="en-US" sz="24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Confirms or rejects hypothesis based on symptom availability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02756" y="6238000"/>
            <a:ext cx="5259482" cy="1638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5"/>
              </a:lnSpc>
            </a:pPr>
            <a:r>
              <a:rPr lang="en-US" sz="2499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This approach is particularly useful when clinicians have a working diagnosis and want to verify whether patient symptoms support it.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13907" y="1491110"/>
            <a:ext cx="8452542" cy="78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4812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Flow &amp; Key Features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988941" y="2590800"/>
            <a:ext cx="28575" cy="6186040"/>
            <a:chOff x="0" y="0"/>
            <a:chExt cx="38100" cy="82480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100" cy="8248015"/>
            </a:xfrm>
            <a:custGeom>
              <a:avLst/>
              <a:gdLst/>
              <a:ahLst/>
              <a:cxnLst/>
              <a:rect r="r" b="b" t="t" l="l"/>
              <a:pathLst>
                <a:path h="8248015" w="3810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22860" y="0"/>
                  </a:lnTo>
                  <a:cubicBezTo>
                    <a:pt x="31242" y="0"/>
                    <a:pt x="38100" y="6858"/>
                    <a:pt x="38100" y="15240"/>
                  </a:cubicBezTo>
                  <a:lnTo>
                    <a:pt x="38100" y="8232775"/>
                  </a:lnTo>
                  <a:cubicBezTo>
                    <a:pt x="38100" y="8241157"/>
                    <a:pt x="31242" y="8248015"/>
                    <a:pt x="22860" y="8248015"/>
                  </a:cubicBezTo>
                  <a:lnTo>
                    <a:pt x="15240" y="8248015"/>
                  </a:lnTo>
                  <a:cubicBezTo>
                    <a:pt x="6858" y="8248015"/>
                    <a:pt x="0" y="8241157"/>
                    <a:pt x="0" y="823277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35477" y="2851547"/>
            <a:ext cx="733720" cy="28575"/>
            <a:chOff x="0" y="0"/>
            <a:chExt cx="978294" cy="38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8281" cy="38100"/>
            </a:xfrm>
            <a:custGeom>
              <a:avLst/>
              <a:gdLst/>
              <a:ahLst/>
              <a:cxnLst/>
              <a:rect r="r" b="b" t="t" l="l"/>
              <a:pathLst>
                <a:path h="38100" w="978281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963041" y="0"/>
                  </a:lnTo>
                  <a:cubicBezTo>
                    <a:pt x="971423" y="0"/>
                    <a:pt x="978281" y="6858"/>
                    <a:pt x="978281" y="15240"/>
                  </a:cubicBezTo>
                  <a:lnTo>
                    <a:pt x="978281" y="22860"/>
                  </a:lnTo>
                  <a:cubicBezTo>
                    <a:pt x="978281" y="31242"/>
                    <a:pt x="971423" y="38100"/>
                    <a:pt x="963041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709078" y="2586038"/>
            <a:ext cx="559746" cy="559746"/>
            <a:chOff x="0" y="0"/>
            <a:chExt cx="746328" cy="7463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733679" cy="733679"/>
            </a:xfrm>
            <a:custGeom>
              <a:avLst/>
              <a:gdLst/>
              <a:ahLst/>
              <a:cxnLst/>
              <a:rect r="r" b="b" t="t" l="l"/>
              <a:pathLst>
                <a:path h="733679" w="73367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18439" y="0"/>
                  </a:lnTo>
                  <a:cubicBezTo>
                    <a:pt x="726821" y="0"/>
                    <a:pt x="733679" y="6858"/>
                    <a:pt x="733679" y="15240"/>
                  </a:cubicBezTo>
                  <a:lnTo>
                    <a:pt x="733679" y="718439"/>
                  </a:lnTo>
                  <a:cubicBezTo>
                    <a:pt x="733679" y="726821"/>
                    <a:pt x="726821" y="733679"/>
                    <a:pt x="718439" y="733679"/>
                  </a:cubicBezTo>
                  <a:lnTo>
                    <a:pt x="15240" y="733679"/>
                  </a:lnTo>
                  <a:cubicBezTo>
                    <a:pt x="6858" y="733679"/>
                    <a:pt x="0" y="726821"/>
                    <a:pt x="0" y="718439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6379" cy="746379"/>
            </a:xfrm>
            <a:custGeom>
              <a:avLst/>
              <a:gdLst/>
              <a:ahLst/>
              <a:cxnLst/>
              <a:rect r="r" b="b" t="t" l="l"/>
              <a:pathLst>
                <a:path h="746379" w="74637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724789" y="0"/>
                  </a:lnTo>
                  <a:lnTo>
                    <a:pt x="724789" y="6350"/>
                  </a:lnTo>
                  <a:lnTo>
                    <a:pt x="724789" y="0"/>
                  </a:lnTo>
                  <a:cubicBezTo>
                    <a:pt x="736727" y="0"/>
                    <a:pt x="746379" y="9652"/>
                    <a:pt x="746379" y="21590"/>
                  </a:cubicBezTo>
                  <a:lnTo>
                    <a:pt x="740029" y="21590"/>
                  </a:lnTo>
                  <a:lnTo>
                    <a:pt x="746379" y="21590"/>
                  </a:lnTo>
                  <a:lnTo>
                    <a:pt x="746379" y="724789"/>
                  </a:lnTo>
                  <a:lnTo>
                    <a:pt x="740029" y="724789"/>
                  </a:lnTo>
                  <a:lnTo>
                    <a:pt x="746379" y="724789"/>
                  </a:lnTo>
                  <a:cubicBezTo>
                    <a:pt x="746379" y="736727"/>
                    <a:pt x="736727" y="746379"/>
                    <a:pt x="724789" y="746379"/>
                  </a:cubicBezTo>
                  <a:lnTo>
                    <a:pt x="724789" y="740029"/>
                  </a:lnTo>
                  <a:lnTo>
                    <a:pt x="724789" y="746379"/>
                  </a:lnTo>
                  <a:lnTo>
                    <a:pt x="21590" y="746379"/>
                  </a:lnTo>
                  <a:lnTo>
                    <a:pt x="21590" y="740029"/>
                  </a:lnTo>
                  <a:lnTo>
                    <a:pt x="21590" y="746379"/>
                  </a:lnTo>
                  <a:cubicBezTo>
                    <a:pt x="9652" y="746379"/>
                    <a:pt x="0" y="736600"/>
                    <a:pt x="0" y="72478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724789"/>
                  </a:lnTo>
                  <a:lnTo>
                    <a:pt x="6350" y="724789"/>
                  </a:lnTo>
                  <a:lnTo>
                    <a:pt x="12700" y="724789"/>
                  </a:lnTo>
                  <a:cubicBezTo>
                    <a:pt x="12700" y="729742"/>
                    <a:pt x="16637" y="733679"/>
                    <a:pt x="21590" y="733679"/>
                  </a:cubicBezTo>
                  <a:lnTo>
                    <a:pt x="724789" y="733679"/>
                  </a:lnTo>
                  <a:cubicBezTo>
                    <a:pt x="729742" y="733679"/>
                    <a:pt x="733679" y="729742"/>
                    <a:pt x="733679" y="724789"/>
                  </a:cubicBezTo>
                  <a:lnTo>
                    <a:pt x="733679" y="21590"/>
                  </a:lnTo>
                  <a:cubicBezTo>
                    <a:pt x="733679" y="16637"/>
                    <a:pt x="729742" y="12700"/>
                    <a:pt x="72478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805442" y="2693718"/>
            <a:ext cx="366865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11866" y="2646159"/>
            <a:ext cx="3348485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Patient Registration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11866" y="3107084"/>
            <a:ext cx="8220227" cy="40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Unique patient identifier creates session log for audit trail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35477" y="4230291"/>
            <a:ext cx="733720" cy="28575"/>
            <a:chOff x="0" y="0"/>
            <a:chExt cx="978294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78281" cy="38100"/>
            </a:xfrm>
            <a:custGeom>
              <a:avLst/>
              <a:gdLst/>
              <a:ahLst/>
              <a:cxnLst/>
              <a:rect r="r" b="b" t="t" l="l"/>
              <a:pathLst>
                <a:path h="38100" w="978281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963041" y="0"/>
                  </a:lnTo>
                  <a:cubicBezTo>
                    <a:pt x="971423" y="0"/>
                    <a:pt x="978281" y="6858"/>
                    <a:pt x="978281" y="15240"/>
                  </a:cubicBezTo>
                  <a:lnTo>
                    <a:pt x="978281" y="22860"/>
                  </a:lnTo>
                  <a:cubicBezTo>
                    <a:pt x="978281" y="31242"/>
                    <a:pt x="971423" y="38100"/>
                    <a:pt x="963041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709078" y="3964781"/>
            <a:ext cx="559746" cy="559746"/>
            <a:chOff x="0" y="0"/>
            <a:chExt cx="746328" cy="7463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733679" cy="733679"/>
            </a:xfrm>
            <a:custGeom>
              <a:avLst/>
              <a:gdLst/>
              <a:ahLst/>
              <a:cxnLst/>
              <a:rect r="r" b="b" t="t" l="l"/>
              <a:pathLst>
                <a:path h="733679" w="73367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18439" y="0"/>
                  </a:lnTo>
                  <a:cubicBezTo>
                    <a:pt x="726821" y="0"/>
                    <a:pt x="733679" y="6858"/>
                    <a:pt x="733679" y="15240"/>
                  </a:cubicBezTo>
                  <a:lnTo>
                    <a:pt x="733679" y="718439"/>
                  </a:lnTo>
                  <a:cubicBezTo>
                    <a:pt x="733679" y="726821"/>
                    <a:pt x="726821" y="733679"/>
                    <a:pt x="718439" y="733679"/>
                  </a:cubicBezTo>
                  <a:lnTo>
                    <a:pt x="15240" y="733679"/>
                  </a:lnTo>
                  <a:cubicBezTo>
                    <a:pt x="6858" y="733679"/>
                    <a:pt x="0" y="726821"/>
                    <a:pt x="0" y="718439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6379" cy="746379"/>
            </a:xfrm>
            <a:custGeom>
              <a:avLst/>
              <a:gdLst/>
              <a:ahLst/>
              <a:cxnLst/>
              <a:rect r="r" b="b" t="t" l="l"/>
              <a:pathLst>
                <a:path h="746379" w="74637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724789" y="0"/>
                  </a:lnTo>
                  <a:lnTo>
                    <a:pt x="724789" y="6350"/>
                  </a:lnTo>
                  <a:lnTo>
                    <a:pt x="724789" y="0"/>
                  </a:lnTo>
                  <a:cubicBezTo>
                    <a:pt x="736727" y="0"/>
                    <a:pt x="746379" y="9652"/>
                    <a:pt x="746379" y="21590"/>
                  </a:cubicBezTo>
                  <a:lnTo>
                    <a:pt x="740029" y="21590"/>
                  </a:lnTo>
                  <a:lnTo>
                    <a:pt x="746379" y="21590"/>
                  </a:lnTo>
                  <a:lnTo>
                    <a:pt x="746379" y="724789"/>
                  </a:lnTo>
                  <a:lnTo>
                    <a:pt x="740029" y="724789"/>
                  </a:lnTo>
                  <a:lnTo>
                    <a:pt x="746379" y="724789"/>
                  </a:lnTo>
                  <a:cubicBezTo>
                    <a:pt x="746379" y="736727"/>
                    <a:pt x="736727" y="746379"/>
                    <a:pt x="724789" y="746379"/>
                  </a:cubicBezTo>
                  <a:lnTo>
                    <a:pt x="724789" y="740029"/>
                  </a:lnTo>
                  <a:lnTo>
                    <a:pt x="724789" y="746379"/>
                  </a:lnTo>
                  <a:lnTo>
                    <a:pt x="21590" y="746379"/>
                  </a:lnTo>
                  <a:lnTo>
                    <a:pt x="21590" y="740029"/>
                  </a:lnTo>
                  <a:lnTo>
                    <a:pt x="21590" y="746379"/>
                  </a:lnTo>
                  <a:cubicBezTo>
                    <a:pt x="9652" y="746379"/>
                    <a:pt x="0" y="736600"/>
                    <a:pt x="0" y="72478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724789"/>
                  </a:lnTo>
                  <a:lnTo>
                    <a:pt x="6350" y="724789"/>
                  </a:lnTo>
                  <a:lnTo>
                    <a:pt x="12700" y="724789"/>
                  </a:lnTo>
                  <a:cubicBezTo>
                    <a:pt x="12700" y="729742"/>
                    <a:pt x="16637" y="733679"/>
                    <a:pt x="21590" y="733679"/>
                  </a:cubicBezTo>
                  <a:lnTo>
                    <a:pt x="724789" y="733679"/>
                  </a:lnTo>
                  <a:cubicBezTo>
                    <a:pt x="729742" y="733679"/>
                    <a:pt x="733679" y="729742"/>
                    <a:pt x="733679" y="724789"/>
                  </a:cubicBezTo>
                  <a:lnTo>
                    <a:pt x="733679" y="21590"/>
                  </a:lnTo>
                  <a:cubicBezTo>
                    <a:pt x="733679" y="16637"/>
                    <a:pt x="729742" y="12700"/>
                    <a:pt x="72478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805442" y="4072461"/>
            <a:ext cx="366865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11866" y="4024903"/>
            <a:ext cx="4442069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Diagnostic Mode Selection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11866" y="4485827"/>
            <a:ext cx="8220227" cy="81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2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Choose between forward chaining (symptom-driven) or backward chaining (hypothesis-driven)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35477" y="5973366"/>
            <a:ext cx="733720" cy="28575"/>
            <a:chOff x="0" y="0"/>
            <a:chExt cx="978294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8281" cy="38100"/>
            </a:xfrm>
            <a:custGeom>
              <a:avLst/>
              <a:gdLst/>
              <a:ahLst/>
              <a:cxnLst/>
              <a:rect r="r" b="b" t="t" l="l"/>
              <a:pathLst>
                <a:path h="38100" w="978281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963041" y="0"/>
                  </a:lnTo>
                  <a:cubicBezTo>
                    <a:pt x="971423" y="0"/>
                    <a:pt x="978281" y="6858"/>
                    <a:pt x="978281" y="15240"/>
                  </a:cubicBezTo>
                  <a:lnTo>
                    <a:pt x="978281" y="22860"/>
                  </a:lnTo>
                  <a:cubicBezTo>
                    <a:pt x="978281" y="31242"/>
                    <a:pt x="971423" y="38100"/>
                    <a:pt x="963041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709078" y="5707856"/>
            <a:ext cx="559746" cy="559746"/>
            <a:chOff x="0" y="0"/>
            <a:chExt cx="746328" cy="7463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733679" cy="733679"/>
            </a:xfrm>
            <a:custGeom>
              <a:avLst/>
              <a:gdLst/>
              <a:ahLst/>
              <a:cxnLst/>
              <a:rect r="r" b="b" t="t" l="l"/>
              <a:pathLst>
                <a:path h="733679" w="73367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18439" y="0"/>
                  </a:lnTo>
                  <a:cubicBezTo>
                    <a:pt x="726821" y="0"/>
                    <a:pt x="733679" y="6858"/>
                    <a:pt x="733679" y="15240"/>
                  </a:cubicBezTo>
                  <a:lnTo>
                    <a:pt x="733679" y="718439"/>
                  </a:lnTo>
                  <a:cubicBezTo>
                    <a:pt x="733679" y="726821"/>
                    <a:pt x="726821" y="733679"/>
                    <a:pt x="718439" y="733679"/>
                  </a:cubicBezTo>
                  <a:lnTo>
                    <a:pt x="15240" y="733679"/>
                  </a:lnTo>
                  <a:cubicBezTo>
                    <a:pt x="6858" y="733679"/>
                    <a:pt x="0" y="726821"/>
                    <a:pt x="0" y="718439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6379" cy="746379"/>
            </a:xfrm>
            <a:custGeom>
              <a:avLst/>
              <a:gdLst/>
              <a:ahLst/>
              <a:cxnLst/>
              <a:rect r="r" b="b" t="t" l="l"/>
              <a:pathLst>
                <a:path h="746379" w="74637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724789" y="0"/>
                  </a:lnTo>
                  <a:lnTo>
                    <a:pt x="724789" y="6350"/>
                  </a:lnTo>
                  <a:lnTo>
                    <a:pt x="724789" y="0"/>
                  </a:lnTo>
                  <a:cubicBezTo>
                    <a:pt x="736727" y="0"/>
                    <a:pt x="746379" y="9652"/>
                    <a:pt x="746379" y="21590"/>
                  </a:cubicBezTo>
                  <a:lnTo>
                    <a:pt x="740029" y="21590"/>
                  </a:lnTo>
                  <a:lnTo>
                    <a:pt x="746379" y="21590"/>
                  </a:lnTo>
                  <a:lnTo>
                    <a:pt x="746379" y="724789"/>
                  </a:lnTo>
                  <a:lnTo>
                    <a:pt x="740029" y="724789"/>
                  </a:lnTo>
                  <a:lnTo>
                    <a:pt x="746379" y="724789"/>
                  </a:lnTo>
                  <a:cubicBezTo>
                    <a:pt x="746379" y="736727"/>
                    <a:pt x="736727" y="746379"/>
                    <a:pt x="724789" y="746379"/>
                  </a:cubicBezTo>
                  <a:lnTo>
                    <a:pt x="724789" y="740029"/>
                  </a:lnTo>
                  <a:lnTo>
                    <a:pt x="724789" y="746379"/>
                  </a:lnTo>
                  <a:lnTo>
                    <a:pt x="21590" y="746379"/>
                  </a:lnTo>
                  <a:lnTo>
                    <a:pt x="21590" y="740029"/>
                  </a:lnTo>
                  <a:lnTo>
                    <a:pt x="21590" y="746379"/>
                  </a:lnTo>
                  <a:cubicBezTo>
                    <a:pt x="9652" y="746379"/>
                    <a:pt x="0" y="736600"/>
                    <a:pt x="0" y="72478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724789"/>
                  </a:lnTo>
                  <a:lnTo>
                    <a:pt x="6350" y="724789"/>
                  </a:lnTo>
                  <a:lnTo>
                    <a:pt x="12700" y="724789"/>
                  </a:lnTo>
                  <a:cubicBezTo>
                    <a:pt x="12700" y="729742"/>
                    <a:pt x="16637" y="733679"/>
                    <a:pt x="21590" y="733679"/>
                  </a:cubicBezTo>
                  <a:lnTo>
                    <a:pt x="724789" y="733679"/>
                  </a:lnTo>
                  <a:cubicBezTo>
                    <a:pt x="729742" y="733679"/>
                    <a:pt x="733679" y="729742"/>
                    <a:pt x="733679" y="724789"/>
                  </a:cubicBezTo>
                  <a:lnTo>
                    <a:pt x="733679" y="21590"/>
                  </a:lnTo>
                  <a:cubicBezTo>
                    <a:pt x="733679" y="16637"/>
                    <a:pt x="729742" y="12700"/>
                    <a:pt x="72478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805442" y="5815536"/>
            <a:ext cx="366865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211866" y="5767978"/>
            <a:ext cx="4270924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Interactive Symptom Grid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11866" y="6228902"/>
            <a:ext cx="8220227" cy="81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2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Dynamic interface for selecting symptoms from comprehensive medical taxonomy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235477" y="7716441"/>
            <a:ext cx="733720" cy="28575"/>
            <a:chOff x="0" y="0"/>
            <a:chExt cx="978294" cy="38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8281" cy="38100"/>
            </a:xfrm>
            <a:custGeom>
              <a:avLst/>
              <a:gdLst/>
              <a:ahLst/>
              <a:cxnLst/>
              <a:rect r="r" b="b" t="t" l="l"/>
              <a:pathLst>
                <a:path h="38100" w="978281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963041" y="0"/>
                  </a:lnTo>
                  <a:cubicBezTo>
                    <a:pt x="971423" y="0"/>
                    <a:pt x="978281" y="6858"/>
                    <a:pt x="978281" y="15240"/>
                  </a:cubicBezTo>
                  <a:lnTo>
                    <a:pt x="978281" y="22860"/>
                  </a:lnTo>
                  <a:cubicBezTo>
                    <a:pt x="978281" y="31242"/>
                    <a:pt x="971423" y="38100"/>
                    <a:pt x="963041" y="38100"/>
                  </a:cubicBezTo>
                  <a:lnTo>
                    <a:pt x="15240" y="38100"/>
                  </a:lnTo>
                  <a:cubicBezTo>
                    <a:pt x="6858" y="38100"/>
                    <a:pt x="0" y="31242"/>
                    <a:pt x="0" y="2286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709078" y="7450931"/>
            <a:ext cx="559746" cy="559746"/>
            <a:chOff x="0" y="0"/>
            <a:chExt cx="746328" cy="7463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350" y="6350"/>
              <a:ext cx="733679" cy="733679"/>
            </a:xfrm>
            <a:custGeom>
              <a:avLst/>
              <a:gdLst/>
              <a:ahLst/>
              <a:cxnLst/>
              <a:rect r="r" b="b" t="t" l="l"/>
              <a:pathLst>
                <a:path h="733679" w="733679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718439" y="0"/>
                  </a:lnTo>
                  <a:cubicBezTo>
                    <a:pt x="726821" y="0"/>
                    <a:pt x="733679" y="6858"/>
                    <a:pt x="733679" y="15240"/>
                  </a:cubicBezTo>
                  <a:lnTo>
                    <a:pt x="733679" y="718439"/>
                  </a:lnTo>
                  <a:cubicBezTo>
                    <a:pt x="733679" y="726821"/>
                    <a:pt x="726821" y="733679"/>
                    <a:pt x="718439" y="733679"/>
                  </a:cubicBezTo>
                  <a:lnTo>
                    <a:pt x="15240" y="733679"/>
                  </a:lnTo>
                  <a:cubicBezTo>
                    <a:pt x="6858" y="733679"/>
                    <a:pt x="0" y="726821"/>
                    <a:pt x="0" y="718439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6379" cy="746379"/>
            </a:xfrm>
            <a:custGeom>
              <a:avLst/>
              <a:gdLst/>
              <a:ahLst/>
              <a:cxnLst/>
              <a:rect r="r" b="b" t="t" l="l"/>
              <a:pathLst>
                <a:path h="746379" w="746379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724789" y="0"/>
                  </a:lnTo>
                  <a:lnTo>
                    <a:pt x="724789" y="6350"/>
                  </a:lnTo>
                  <a:lnTo>
                    <a:pt x="724789" y="0"/>
                  </a:lnTo>
                  <a:cubicBezTo>
                    <a:pt x="736727" y="0"/>
                    <a:pt x="746379" y="9652"/>
                    <a:pt x="746379" y="21590"/>
                  </a:cubicBezTo>
                  <a:lnTo>
                    <a:pt x="740029" y="21590"/>
                  </a:lnTo>
                  <a:lnTo>
                    <a:pt x="746379" y="21590"/>
                  </a:lnTo>
                  <a:lnTo>
                    <a:pt x="746379" y="724789"/>
                  </a:lnTo>
                  <a:lnTo>
                    <a:pt x="740029" y="724789"/>
                  </a:lnTo>
                  <a:lnTo>
                    <a:pt x="746379" y="724789"/>
                  </a:lnTo>
                  <a:cubicBezTo>
                    <a:pt x="746379" y="736727"/>
                    <a:pt x="736727" y="746379"/>
                    <a:pt x="724789" y="746379"/>
                  </a:cubicBezTo>
                  <a:lnTo>
                    <a:pt x="724789" y="740029"/>
                  </a:lnTo>
                  <a:lnTo>
                    <a:pt x="724789" y="746379"/>
                  </a:lnTo>
                  <a:lnTo>
                    <a:pt x="21590" y="746379"/>
                  </a:lnTo>
                  <a:lnTo>
                    <a:pt x="21590" y="740029"/>
                  </a:lnTo>
                  <a:lnTo>
                    <a:pt x="21590" y="746379"/>
                  </a:lnTo>
                  <a:cubicBezTo>
                    <a:pt x="9652" y="746379"/>
                    <a:pt x="0" y="736600"/>
                    <a:pt x="0" y="724789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724789"/>
                  </a:lnTo>
                  <a:lnTo>
                    <a:pt x="6350" y="724789"/>
                  </a:lnTo>
                  <a:lnTo>
                    <a:pt x="12700" y="724789"/>
                  </a:lnTo>
                  <a:cubicBezTo>
                    <a:pt x="12700" y="729742"/>
                    <a:pt x="16637" y="733679"/>
                    <a:pt x="21590" y="733679"/>
                  </a:cubicBezTo>
                  <a:lnTo>
                    <a:pt x="724789" y="733679"/>
                  </a:lnTo>
                  <a:cubicBezTo>
                    <a:pt x="729742" y="733679"/>
                    <a:pt x="733679" y="729742"/>
                    <a:pt x="733679" y="724789"/>
                  </a:cubicBezTo>
                  <a:lnTo>
                    <a:pt x="733679" y="21590"/>
                  </a:lnTo>
                  <a:cubicBezTo>
                    <a:pt x="733679" y="16637"/>
                    <a:pt x="729742" y="12700"/>
                    <a:pt x="724789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7805442" y="7558611"/>
            <a:ext cx="366865" cy="401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874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11866" y="7511053"/>
            <a:ext cx="3057230" cy="41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Diagnostic Report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11866" y="7971977"/>
            <a:ext cx="8220227" cy="81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2"/>
              </a:lnSpc>
            </a:pPr>
            <a:r>
              <a:rPr lang="en-US" sz="2174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Step-by-step reasoning trace showing inference path and confidence levels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43423" y="782841"/>
            <a:ext cx="9580216" cy="870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UI/UX Design &amp; Audit Trail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3423" y="2275132"/>
            <a:ext cx="5644153" cy="44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Glassmorphism Design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3423" y="2876255"/>
            <a:ext cx="7871822" cy="231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Premium glassmorphism UI with frosted glass effects</a:t>
            </a:r>
          </a:p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Dynamic HTML5 background animations</a:t>
            </a:r>
          </a:p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Clinical color palette: blues and pure whites</a:t>
            </a:r>
          </a:p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Inter font for optimal readability</a:t>
            </a:r>
          </a:p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Seamless SPA transitions via fetch() 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82290" y="2275132"/>
            <a:ext cx="3932930" cy="44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Logging &amp; Audit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82290" y="2876255"/>
            <a:ext cx="7871822" cy="184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Session logs stored in patient-named .txt files</a:t>
            </a:r>
          </a:p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Complete reasoning trace for each diagnosis</a:t>
            </a:r>
          </a:p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Timestamped entries for regulatory compliance</a:t>
            </a:r>
          </a:p>
          <a:p>
            <a:pPr algn="just" marL="356293" indent="-178147" lvl="1">
              <a:lnSpc>
                <a:spcPts val="3722"/>
              </a:lnSpc>
              <a:buFont typeface="Arial"/>
              <a:buChar char="•"/>
            </a:pPr>
            <a:r>
              <a:rPr lang="en-US" sz="2362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Plain-text format for easy analysis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801620" y="5984672"/>
            <a:ext cx="3234633" cy="3234633"/>
            <a:chOff x="0" y="0"/>
            <a:chExt cx="4312844" cy="431284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312793" cy="4312793"/>
            </a:xfrm>
            <a:custGeom>
              <a:avLst/>
              <a:gdLst/>
              <a:ahLst/>
              <a:cxnLst/>
              <a:rect r="r" b="b" t="t" l="l"/>
              <a:pathLst>
                <a:path h="4312793" w="4312793">
                  <a:moveTo>
                    <a:pt x="0" y="0"/>
                  </a:moveTo>
                  <a:lnTo>
                    <a:pt x="4312793" y="0"/>
                  </a:lnTo>
                  <a:lnTo>
                    <a:pt x="4312793" y="4312793"/>
                  </a:lnTo>
                  <a:lnTo>
                    <a:pt x="0" y="4312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-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251747" y="5984672"/>
            <a:ext cx="3234633" cy="3234633"/>
            <a:chOff x="0" y="0"/>
            <a:chExt cx="4312844" cy="431284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312793" cy="4312793"/>
            </a:xfrm>
            <a:custGeom>
              <a:avLst/>
              <a:gdLst/>
              <a:ahLst/>
              <a:cxnLst/>
              <a:rect r="r" b="b" t="t" l="l"/>
              <a:pathLst>
                <a:path h="4312793" w="4312793">
                  <a:moveTo>
                    <a:pt x="0" y="0"/>
                  </a:moveTo>
                  <a:lnTo>
                    <a:pt x="4312793" y="0"/>
                  </a:lnTo>
                  <a:lnTo>
                    <a:pt x="4312793" y="4312793"/>
                  </a:lnTo>
                  <a:lnTo>
                    <a:pt x="0" y="4312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8ECE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74584"/>
            <a:ext cx="7088238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960932"/>
            <a:ext cx="5254971" cy="3023149"/>
            <a:chOff x="0" y="0"/>
            <a:chExt cx="7006628" cy="40308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018153"/>
            </a:xfrm>
            <a:custGeom>
              <a:avLst/>
              <a:gdLst/>
              <a:ahLst/>
              <a:cxnLst/>
              <a:rect r="r" b="b" t="t" l="l"/>
              <a:pathLst>
                <a:path h="4018153" w="699389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6978650" y="0"/>
                  </a:lnTo>
                  <a:cubicBezTo>
                    <a:pt x="6987032" y="0"/>
                    <a:pt x="6993890" y="6858"/>
                    <a:pt x="6993890" y="15240"/>
                  </a:cubicBezTo>
                  <a:lnTo>
                    <a:pt x="6993890" y="4002913"/>
                  </a:lnTo>
                  <a:cubicBezTo>
                    <a:pt x="6993890" y="4011295"/>
                    <a:pt x="6987032" y="4018153"/>
                    <a:pt x="6978650" y="4018153"/>
                  </a:cubicBezTo>
                  <a:lnTo>
                    <a:pt x="15240" y="4018153"/>
                  </a:lnTo>
                  <a:cubicBezTo>
                    <a:pt x="6858" y="4018153"/>
                    <a:pt x="0" y="4011295"/>
                    <a:pt x="0" y="4002913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4030853"/>
            </a:xfrm>
            <a:custGeom>
              <a:avLst/>
              <a:gdLst/>
              <a:ahLst/>
              <a:cxnLst/>
              <a:rect r="r" b="b" t="t" l="l"/>
              <a:pathLst>
                <a:path h="4030853" w="7006590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6985000" y="0"/>
                  </a:lnTo>
                  <a:lnTo>
                    <a:pt x="6985000" y="6350"/>
                  </a:lnTo>
                  <a:lnTo>
                    <a:pt x="6985000" y="0"/>
                  </a:lnTo>
                  <a:cubicBezTo>
                    <a:pt x="6996938" y="0"/>
                    <a:pt x="7006590" y="9652"/>
                    <a:pt x="7006590" y="21590"/>
                  </a:cubicBezTo>
                  <a:lnTo>
                    <a:pt x="7000240" y="21590"/>
                  </a:lnTo>
                  <a:lnTo>
                    <a:pt x="7006590" y="21590"/>
                  </a:lnTo>
                  <a:lnTo>
                    <a:pt x="7006590" y="4009263"/>
                  </a:lnTo>
                  <a:lnTo>
                    <a:pt x="7000240" y="4009263"/>
                  </a:lnTo>
                  <a:lnTo>
                    <a:pt x="7006590" y="4009263"/>
                  </a:lnTo>
                  <a:cubicBezTo>
                    <a:pt x="7006590" y="4021201"/>
                    <a:pt x="6996938" y="4030853"/>
                    <a:pt x="6985000" y="4030853"/>
                  </a:cubicBezTo>
                  <a:lnTo>
                    <a:pt x="6985000" y="4024503"/>
                  </a:lnTo>
                  <a:lnTo>
                    <a:pt x="6985000" y="4030853"/>
                  </a:lnTo>
                  <a:lnTo>
                    <a:pt x="21590" y="4030853"/>
                  </a:lnTo>
                  <a:lnTo>
                    <a:pt x="21590" y="4024503"/>
                  </a:lnTo>
                  <a:lnTo>
                    <a:pt x="21590" y="4030853"/>
                  </a:lnTo>
                  <a:cubicBezTo>
                    <a:pt x="9652" y="4030853"/>
                    <a:pt x="0" y="4021201"/>
                    <a:pt x="0" y="4009263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4009263"/>
                  </a:lnTo>
                  <a:lnTo>
                    <a:pt x="6350" y="4009263"/>
                  </a:lnTo>
                  <a:lnTo>
                    <a:pt x="12700" y="4009263"/>
                  </a:lnTo>
                  <a:cubicBezTo>
                    <a:pt x="12700" y="4014216"/>
                    <a:pt x="16637" y="4018153"/>
                    <a:pt x="21590" y="4018153"/>
                  </a:cubicBezTo>
                  <a:lnTo>
                    <a:pt x="6985000" y="4018153"/>
                  </a:lnTo>
                  <a:cubicBezTo>
                    <a:pt x="6989953" y="4018153"/>
                    <a:pt x="6993890" y="4014216"/>
                    <a:pt x="6993890" y="4009263"/>
                  </a:cubicBezTo>
                  <a:lnTo>
                    <a:pt x="6993890" y="21590"/>
                  </a:lnTo>
                  <a:cubicBezTo>
                    <a:pt x="6993890" y="16637"/>
                    <a:pt x="6989953" y="12700"/>
                    <a:pt x="6985000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239691"/>
            <a:ext cx="450249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Achievement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3766985"/>
            <a:ext cx="4659363" cy="191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8"/>
              </a:lnSpc>
            </a:pPr>
            <a:r>
              <a:rPr lang="en-US" sz="23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Demonstrates practical implementation of symbolic AI concepts in healthcare domain with clean architecture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6443" y="2960932"/>
            <a:ext cx="5254971" cy="3023149"/>
            <a:chOff x="0" y="0"/>
            <a:chExt cx="7006628" cy="4030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6993890" cy="4018153"/>
            </a:xfrm>
            <a:custGeom>
              <a:avLst/>
              <a:gdLst/>
              <a:ahLst/>
              <a:cxnLst/>
              <a:rect r="r" b="b" t="t" l="l"/>
              <a:pathLst>
                <a:path h="4018153" w="699389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6978650" y="0"/>
                  </a:lnTo>
                  <a:cubicBezTo>
                    <a:pt x="6987032" y="0"/>
                    <a:pt x="6993890" y="6858"/>
                    <a:pt x="6993890" y="15240"/>
                  </a:cubicBezTo>
                  <a:lnTo>
                    <a:pt x="6993890" y="4002913"/>
                  </a:lnTo>
                  <a:cubicBezTo>
                    <a:pt x="6993890" y="4011295"/>
                    <a:pt x="6987032" y="4018153"/>
                    <a:pt x="6978650" y="4018153"/>
                  </a:cubicBezTo>
                  <a:lnTo>
                    <a:pt x="15240" y="4018153"/>
                  </a:lnTo>
                  <a:cubicBezTo>
                    <a:pt x="6858" y="4018153"/>
                    <a:pt x="0" y="4011295"/>
                    <a:pt x="0" y="4002913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6590" cy="4030853"/>
            </a:xfrm>
            <a:custGeom>
              <a:avLst/>
              <a:gdLst/>
              <a:ahLst/>
              <a:cxnLst/>
              <a:rect r="r" b="b" t="t" l="l"/>
              <a:pathLst>
                <a:path h="4030853" w="7006590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6985000" y="0"/>
                  </a:lnTo>
                  <a:lnTo>
                    <a:pt x="6985000" y="6350"/>
                  </a:lnTo>
                  <a:lnTo>
                    <a:pt x="6985000" y="0"/>
                  </a:lnTo>
                  <a:cubicBezTo>
                    <a:pt x="6996938" y="0"/>
                    <a:pt x="7006590" y="9652"/>
                    <a:pt x="7006590" y="21590"/>
                  </a:cubicBezTo>
                  <a:lnTo>
                    <a:pt x="7000240" y="21590"/>
                  </a:lnTo>
                  <a:lnTo>
                    <a:pt x="7006590" y="21590"/>
                  </a:lnTo>
                  <a:lnTo>
                    <a:pt x="7006590" y="4009263"/>
                  </a:lnTo>
                  <a:lnTo>
                    <a:pt x="7000240" y="4009263"/>
                  </a:lnTo>
                  <a:lnTo>
                    <a:pt x="7006590" y="4009263"/>
                  </a:lnTo>
                  <a:cubicBezTo>
                    <a:pt x="7006590" y="4021201"/>
                    <a:pt x="6996938" y="4030853"/>
                    <a:pt x="6985000" y="4030853"/>
                  </a:cubicBezTo>
                  <a:lnTo>
                    <a:pt x="6985000" y="4024503"/>
                  </a:lnTo>
                  <a:lnTo>
                    <a:pt x="6985000" y="4030853"/>
                  </a:lnTo>
                  <a:lnTo>
                    <a:pt x="21590" y="4030853"/>
                  </a:lnTo>
                  <a:lnTo>
                    <a:pt x="21590" y="4024503"/>
                  </a:lnTo>
                  <a:lnTo>
                    <a:pt x="21590" y="4030853"/>
                  </a:lnTo>
                  <a:cubicBezTo>
                    <a:pt x="9652" y="4030853"/>
                    <a:pt x="0" y="4021201"/>
                    <a:pt x="0" y="4009263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4009263"/>
                  </a:lnTo>
                  <a:lnTo>
                    <a:pt x="6350" y="4009263"/>
                  </a:lnTo>
                  <a:lnTo>
                    <a:pt x="12700" y="4009263"/>
                  </a:lnTo>
                  <a:cubicBezTo>
                    <a:pt x="12700" y="4014216"/>
                    <a:pt x="16637" y="4018153"/>
                    <a:pt x="21590" y="4018153"/>
                  </a:cubicBezTo>
                  <a:lnTo>
                    <a:pt x="6985000" y="4018153"/>
                  </a:lnTo>
                  <a:cubicBezTo>
                    <a:pt x="6989953" y="4018153"/>
                    <a:pt x="6993890" y="4014216"/>
                    <a:pt x="6993890" y="4009263"/>
                  </a:cubicBezTo>
                  <a:lnTo>
                    <a:pt x="6993890" y="21590"/>
                  </a:lnTo>
                  <a:cubicBezTo>
                    <a:pt x="6993890" y="16637"/>
                    <a:pt x="6989953" y="12700"/>
                    <a:pt x="6985000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814242" y="3239691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Educational Value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14242" y="3766985"/>
            <a:ext cx="4659363" cy="191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8"/>
              </a:lnSpc>
            </a:pPr>
            <a:r>
              <a:rPr lang="en-US" sz="23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Clear illustration of knowledge representation, forward/backward chaining, and inference mechanisms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45401" y="2960932"/>
            <a:ext cx="5254971" cy="3023149"/>
            <a:chOff x="0" y="0"/>
            <a:chExt cx="7006628" cy="40308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6993890" cy="4018153"/>
            </a:xfrm>
            <a:custGeom>
              <a:avLst/>
              <a:gdLst/>
              <a:ahLst/>
              <a:cxnLst/>
              <a:rect r="r" b="b" t="t" l="l"/>
              <a:pathLst>
                <a:path h="4018153" w="6993890">
                  <a:moveTo>
                    <a:pt x="0" y="15240"/>
                  </a:moveTo>
                  <a:cubicBezTo>
                    <a:pt x="0" y="6858"/>
                    <a:pt x="6858" y="0"/>
                    <a:pt x="15240" y="0"/>
                  </a:cubicBezTo>
                  <a:lnTo>
                    <a:pt x="6978650" y="0"/>
                  </a:lnTo>
                  <a:cubicBezTo>
                    <a:pt x="6987032" y="0"/>
                    <a:pt x="6993890" y="6858"/>
                    <a:pt x="6993890" y="15240"/>
                  </a:cubicBezTo>
                  <a:lnTo>
                    <a:pt x="6993890" y="4002913"/>
                  </a:lnTo>
                  <a:cubicBezTo>
                    <a:pt x="6993890" y="4011295"/>
                    <a:pt x="6987032" y="4018153"/>
                    <a:pt x="6978650" y="4018153"/>
                  </a:cubicBezTo>
                  <a:lnTo>
                    <a:pt x="15240" y="4018153"/>
                  </a:lnTo>
                  <a:cubicBezTo>
                    <a:pt x="6858" y="4018153"/>
                    <a:pt x="0" y="4011295"/>
                    <a:pt x="0" y="4002913"/>
                  </a:cubicBezTo>
                  <a:close/>
                </a:path>
              </a:pathLst>
            </a:custGeom>
            <a:solidFill>
              <a:srgbClr val="F8ECE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6590" cy="4030853"/>
            </a:xfrm>
            <a:custGeom>
              <a:avLst/>
              <a:gdLst/>
              <a:ahLst/>
              <a:cxnLst/>
              <a:rect r="r" b="b" t="t" l="l"/>
              <a:pathLst>
                <a:path h="4030853" w="7006590">
                  <a:moveTo>
                    <a:pt x="0" y="21590"/>
                  </a:moveTo>
                  <a:cubicBezTo>
                    <a:pt x="0" y="9652"/>
                    <a:pt x="9652" y="0"/>
                    <a:pt x="21590" y="0"/>
                  </a:cubicBezTo>
                  <a:lnTo>
                    <a:pt x="6985000" y="0"/>
                  </a:lnTo>
                  <a:lnTo>
                    <a:pt x="6985000" y="6350"/>
                  </a:lnTo>
                  <a:lnTo>
                    <a:pt x="6985000" y="0"/>
                  </a:lnTo>
                  <a:cubicBezTo>
                    <a:pt x="6996938" y="0"/>
                    <a:pt x="7006590" y="9652"/>
                    <a:pt x="7006590" y="21590"/>
                  </a:cubicBezTo>
                  <a:lnTo>
                    <a:pt x="7000240" y="21590"/>
                  </a:lnTo>
                  <a:lnTo>
                    <a:pt x="7006590" y="21590"/>
                  </a:lnTo>
                  <a:lnTo>
                    <a:pt x="7006590" y="4009263"/>
                  </a:lnTo>
                  <a:lnTo>
                    <a:pt x="7000240" y="4009263"/>
                  </a:lnTo>
                  <a:lnTo>
                    <a:pt x="7006590" y="4009263"/>
                  </a:lnTo>
                  <a:cubicBezTo>
                    <a:pt x="7006590" y="4021201"/>
                    <a:pt x="6996938" y="4030853"/>
                    <a:pt x="6985000" y="4030853"/>
                  </a:cubicBezTo>
                  <a:lnTo>
                    <a:pt x="6985000" y="4024503"/>
                  </a:lnTo>
                  <a:lnTo>
                    <a:pt x="6985000" y="4030853"/>
                  </a:lnTo>
                  <a:lnTo>
                    <a:pt x="21590" y="4030853"/>
                  </a:lnTo>
                  <a:lnTo>
                    <a:pt x="21590" y="4024503"/>
                  </a:lnTo>
                  <a:lnTo>
                    <a:pt x="21590" y="4030853"/>
                  </a:lnTo>
                  <a:cubicBezTo>
                    <a:pt x="9652" y="4030853"/>
                    <a:pt x="0" y="4021201"/>
                    <a:pt x="0" y="4009263"/>
                  </a:cubicBezTo>
                  <a:lnTo>
                    <a:pt x="0" y="21590"/>
                  </a:lnTo>
                  <a:lnTo>
                    <a:pt x="6350" y="21590"/>
                  </a:lnTo>
                  <a:lnTo>
                    <a:pt x="0" y="21590"/>
                  </a:lnTo>
                  <a:moveTo>
                    <a:pt x="12700" y="21590"/>
                  </a:moveTo>
                  <a:lnTo>
                    <a:pt x="12700" y="4009263"/>
                  </a:lnTo>
                  <a:lnTo>
                    <a:pt x="6350" y="4009263"/>
                  </a:lnTo>
                  <a:lnTo>
                    <a:pt x="12700" y="4009263"/>
                  </a:lnTo>
                  <a:cubicBezTo>
                    <a:pt x="12700" y="4014216"/>
                    <a:pt x="16637" y="4018153"/>
                    <a:pt x="21590" y="4018153"/>
                  </a:cubicBezTo>
                  <a:lnTo>
                    <a:pt x="6985000" y="4018153"/>
                  </a:lnTo>
                  <a:cubicBezTo>
                    <a:pt x="6989953" y="4018153"/>
                    <a:pt x="6993890" y="4014216"/>
                    <a:pt x="6993890" y="4009263"/>
                  </a:cubicBezTo>
                  <a:lnTo>
                    <a:pt x="6993890" y="21590"/>
                  </a:lnTo>
                  <a:cubicBezTo>
                    <a:pt x="6993890" y="16637"/>
                    <a:pt x="6989953" y="12700"/>
                    <a:pt x="6985000" y="12700"/>
                  </a:cubicBezTo>
                  <a:lnTo>
                    <a:pt x="21590" y="12700"/>
                  </a:lnTo>
                  <a:lnTo>
                    <a:pt x="21590" y="6350"/>
                  </a:lnTo>
                  <a:lnTo>
                    <a:pt x="21590" y="12700"/>
                  </a:lnTo>
                  <a:cubicBezTo>
                    <a:pt x="16637" y="12700"/>
                    <a:pt x="12700" y="16637"/>
                    <a:pt x="12700" y="21590"/>
                  </a:cubicBezTo>
                  <a:close/>
                </a:path>
              </a:pathLst>
            </a:custGeom>
            <a:solidFill>
              <a:srgbClr val="151617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43209" y="3239691"/>
            <a:ext cx="446380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Real-World Application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43209" y="3766985"/>
            <a:ext cx="4659363" cy="143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8"/>
              </a:lnSpc>
            </a:pPr>
            <a:r>
              <a:rPr lang="en-US" sz="23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Shows how foundational AI techniques can address practical medical diagnostic challenges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238" y="6439986"/>
            <a:ext cx="16303523" cy="44948"/>
            <a:chOff x="0" y="0"/>
            <a:chExt cx="21738031" cy="599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38082" cy="59944"/>
            </a:xfrm>
            <a:custGeom>
              <a:avLst/>
              <a:gdLst/>
              <a:ahLst/>
              <a:cxnLst/>
              <a:rect r="r" b="b" t="t" l="l"/>
              <a:pathLst>
                <a:path h="5994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151617">
                <a:alpha val="24706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2238" y="6900567"/>
            <a:ext cx="5416306" cy="541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true">
                <a:solidFill>
                  <a:srgbClr val="15161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 &amp; Discussion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238" y="7762132"/>
            <a:ext cx="16303523" cy="946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88"/>
              </a:lnSpc>
            </a:pPr>
            <a:r>
              <a:rPr lang="en-US" sz="2387">
                <a:solidFill>
                  <a:srgbClr val="151617"/>
                </a:solidFill>
                <a:latin typeface="Arimo"/>
                <a:ea typeface="Arimo"/>
                <a:cs typeface="Arimo"/>
                <a:sym typeface="Arimo"/>
              </a:rPr>
              <a:t>Thank you for your time. I'm ready to discuss technical implementation details, design decisions, or potential extensions to this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DAHE7Gdgmw0</dc:identifier>
  <dcterms:modified xsi:type="dcterms:W3CDTF">2011-08-01T06:04:30Z</dcterms:modified>
  <cp:revision>1</cp:revision>
  <dc:title>This approach is particularly useful when clinicians have a working diagnosis and want to verify whether patient symptoms support it.</dc:title>
</cp:coreProperties>
</file>